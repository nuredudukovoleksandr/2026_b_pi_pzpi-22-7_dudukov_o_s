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5" r:id="rId10"/>
    <p:sldId id="274" r:id="rId11"/>
    <p:sldId id="276" r:id="rId12"/>
    <p:sldId id="277" r:id="rId13"/>
    <p:sldId id="278" r:id="rId14"/>
    <p:sldId id="280" r:id="rId15"/>
  </p:sldIdLst>
  <p:sldSz cx="9144000" cy="5143500" type="screen16x9"/>
  <p:notesSz cx="51435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Lora" pitchFamily="2" charset="-52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23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65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5603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042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865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264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867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6356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551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551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932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2263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6129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53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8517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6261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57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2593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64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01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1740" y="0"/>
            <a:ext cx="8159261" cy="111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uk-UA" sz="2800" dirty="0"/>
              <a:t>Харківський національний університет радіоелектроніки </a:t>
            </a:r>
            <a:br>
              <a:rPr lang="uk-UA" sz="2800" dirty="0"/>
            </a:br>
            <a:r>
              <a:rPr lang="uk-UA" sz="2800" dirty="0"/>
              <a:t>Кваліфікаційна робота бакалавра </a:t>
            </a:r>
            <a:endParaRPr lang="uk-UA" sz="2800" b="1" dirty="0"/>
          </a:p>
        </p:txBody>
      </p:sp>
      <p:sp>
        <p:nvSpPr>
          <p:cNvPr id="4" name="Text 1"/>
          <p:cNvSpPr/>
          <p:nvPr/>
        </p:nvSpPr>
        <p:spPr>
          <a:xfrm>
            <a:off x="361740" y="1493233"/>
            <a:ext cx="8480809" cy="997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+mj-lt"/>
                <a:ea typeface="Inter" pitchFamily="34" charset="-122"/>
                <a:cs typeface="Inter" pitchFamily="34" charset="-120"/>
              </a:rPr>
              <a:t>Програмна система інтелектуального навчання іноземних мов з використанням генеративних моделей ШІ на базі ОС Android</a:t>
            </a:r>
            <a:endParaRPr lang="en-US" sz="2000" b="1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53951" y="3004256"/>
            <a:ext cx="2905045" cy="130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uk-UA" sz="1600" dirty="0"/>
              <a:t>Виконав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uk-UA" sz="1600" dirty="0"/>
              <a:t>Ст. Гр. ПЗПІ-22-7 </a:t>
            </a:r>
            <a:br>
              <a:rPr lang="uk-UA" sz="1600" dirty="0"/>
            </a:br>
            <a:r>
              <a:rPr lang="uk-UA" sz="1600" dirty="0"/>
              <a:t>Дудуков О.С</a:t>
            </a:r>
            <a:br>
              <a:rPr lang="uk-UA" sz="1600" dirty="0"/>
            </a:b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0543E3-FB42-9C0F-4E5C-A0BDA6C6C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196" y="5446547"/>
            <a:ext cx="1353312" cy="382754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4713A90F-0EE1-8785-6572-B044785690DB}"/>
              </a:ext>
            </a:extLst>
          </p:cNvPr>
          <p:cNvSpPr/>
          <p:nvPr/>
        </p:nvSpPr>
        <p:spPr>
          <a:xfrm>
            <a:off x="5937504" y="3080132"/>
            <a:ext cx="2905045" cy="99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</a:pPr>
            <a:r>
              <a:rPr lang="uk-UA" sz="1600" dirty="0"/>
              <a:t>Керівник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uk-UA" dirty="0"/>
              <a:t>Доц. Кафедри ПІ</a:t>
            </a:r>
            <a:br>
              <a:rPr lang="uk-UA" sz="1600" dirty="0"/>
            </a:br>
            <a:r>
              <a:rPr lang="uk-UA" sz="1600" dirty="0"/>
              <a:t>Мар’їн О.С.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62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75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76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77" name="Rectangle 42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7B9DB-2E00-838A-B30A-16F95F30A4F4}"/>
              </a:ext>
            </a:extLst>
          </p:cNvPr>
          <p:cNvSpPr txBox="1"/>
          <p:nvPr/>
        </p:nvSpPr>
        <p:spPr>
          <a:xfrm>
            <a:off x="486918" y="483829"/>
            <a:ext cx="4930902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Аналіз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аналогів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Duolingo</a:t>
            </a:r>
          </a:p>
        </p:txBody>
      </p:sp>
      <p:sp>
        <p:nvSpPr>
          <p:cNvPr id="78" name="Rectangle 44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93D9E-6B3B-686A-0F91-52AD5D0B16BA}"/>
              </a:ext>
            </a:extLst>
          </p:cNvPr>
          <p:cNvSpPr txBox="1"/>
          <p:nvPr/>
        </p:nvSpPr>
        <p:spPr>
          <a:xfrm>
            <a:off x="486918" y="1600200"/>
            <a:ext cx="4930901" cy="281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Duolingo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- це найпопулярніший у світі мобільний застосунок для безкоштовного вивчення іноземних мов, який базується на методах гейміфікації та коротких щоденних уроках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866171-E1CD-99C2-F4BA-9C6CA09E1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894" y="483829"/>
            <a:ext cx="1751435" cy="3935810"/>
          </a:xfrm>
          <a:prstGeom prst="rect">
            <a:avLst/>
          </a:prstGeom>
        </p:spPr>
      </p:pic>
      <p:sp>
        <p:nvSpPr>
          <p:cNvPr id="79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03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61EE0-E59D-807E-BA1E-A4D44EC319A8}"/>
              </a:ext>
            </a:extLst>
          </p:cNvPr>
          <p:cNvSpPr txBox="1"/>
          <p:nvPr/>
        </p:nvSpPr>
        <p:spPr>
          <a:xfrm>
            <a:off x="486918" y="483829"/>
            <a:ext cx="2737709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Аналіз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аналогів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Memrise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6FC47-E10D-E99D-8D55-54BD050286D3}"/>
              </a:ext>
            </a:extLst>
          </p:cNvPr>
          <p:cNvSpPr txBox="1"/>
          <p:nvPr/>
        </p:nvSpPr>
        <p:spPr>
          <a:xfrm>
            <a:off x="486918" y="1600201"/>
            <a:ext cx="2916682" cy="2539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Memrise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це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відома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міжнародна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мобільна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платформа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словниковий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тренажер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призначений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для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швидкого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розширення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лексичного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запасу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допомогою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методики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інтервальних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повторень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асоціативного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навчання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Рисунок 3" descr="1 Fail-Proof Memrise Review For Eager Learners - ling-app.com">
            <a:extLst>
              <a:ext uri="{FF2B5EF4-FFF2-40B4-BE49-F238E27FC236}">
                <a16:creationId xmlns:a16="http://schemas.microsoft.com/office/drawing/2014/main" id="{3446A6E7-5C6D-FCEC-939E-B511BEE8F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7660" y="983079"/>
            <a:ext cx="5215183" cy="2933540"/>
          </a:xfrm>
          <a:prstGeom prst="rect">
            <a:avLst/>
          </a:prstGeom>
          <a:noFill/>
        </p:spPr>
      </p:pic>
      <p:sp>
        <p:nvSpPr>
          <p:cNvPr id="47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1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CE2DC2-2C26-596D-0C4F-FB285934DB09}"/>
              </a:ext>
            </a:extLst>
          </p:cNvPr>
          <p:cNvSpPr txBox="1"/>
          <p:nvPr/>
        </p:nvSpPr>
        <p:spPr>
          <a:xfrm>
            <a:off x="2705100" y="133984"/>
            <a:ext cx="35052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/>
              <a:t>ПОСТАНОВКА ЗАДАЧІ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3E95E-5090-290C-2FEF-CFD06E19765C}"/>
              </a:ext>
            </a:extLst>
          </p:cNvPr>
          <p:cNvSpPr txBox="1"/>
          <p:nvPr/>
        </p:nvSpPr>
        <p:spPr>
          <a:xfrm>
            <a:off x="1524000" y="719313"/>
            <a:ext cx="762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/>
              <a:t>Метою є створення мобільного застосунку для інтелектуального та персоналізованого навчання іноземних мов.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00459-DE37-03C3-2B17-043DBEDF1D69}"/>
              </a:ext>
            </a:extLst>
          </p:cNvPr>
          <p:cNvSpPr txBox="1"/>
          <p:nvPr/>
        </p:nvSpPr>
        <p:spPr>
          <a:xfrm>
            <a:off x="1689100" y="1895574"/>
            <a:ext cx="7454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Основні задачі:</a:t>
            </a:r>
            <a:endParaRPr lang="uk-UA" dirty="0"/>
          </a:p>
          <a:p>
            <a:r>
              <a:rPr lang="uk-UA" b="1" dirty="0"/>
              <a:t>1)</a:t>
            </a:r>
            <a:r>
              <a:rPr lang="uk-UA" dirty="0"/>
              <a:t> Створення інтерактивного чату з ШІ-асистентом для практики розмовної мови в реальному часі та отримання зворотного зв'язку.</a:t>
            </a:r>
          </a:p>
          <a:p>
            <a:r>
              <a:rPr lang="uk-UA" b="1" dirty="0"/>
              <a:t>2)</a:t>
            </a:r>
            <a:r>
              <a:rPr lang="uk-UA" dirty="0"/>
              <a:t> Реалізація модуля автоматичної генерації лексичних карток безпосередньо з контексту живого спілкування.</a:t>
            </a:r>
          </a:p>
          <a:p>
            <a:r>
              <a:rPr lang="uk-UA" b="1" dirty="0"/>
              <a:t>3)</a:t>
            </a:r>
            <a:r>
              <a:rPr lang="uk-UA" dirty="0"/>
              <a:t> Впровадження механіки «</a:t>
            </a:r>
            <a:r>
              <a:rPr lang="uk-UA" dirty="0" err="1"/>
              <a:t>Tinder-swipe</a:t>
            </a:r>
            <a:r>
              <a:rPr lang="uk-UA" dirty="0"/>
              <a:t>» для швидкої та зручної оцінки знань слів користувачем.</a:t>
            </a:r>
          </a:p>
          <a:p>
            <a:r>
              <a:rPr lang="uk-UA" b="1" dirty="0"/>
              <a:t>4)</a:t>
            </a:r>
            <a:r>
              <a:rPr lang="uk-UA" dirty="0"/>
              <a:t> Забезпечення надійного хмарного збереження прогресу та підтримки роботи з даними в автономному (</a:t>
            </a:r>
            <a:r>
              <a:rPr lang="uk-UA" dirty="0" err="1"/>
              <a:t>офлайн</a:t>
            </a:r>
            <a:r>
              <a:rPr lang="uk-UA" dirty="0"/>
              <a:t>) режимі.</a:t>
            </a:r>
          </a:p>
        </p:txBody>
      </p:sp>
    </p:spTree>
    <p:extLst>
      <p:ext uri="{BB962C8B-B14F-4D97-AF65-F5344CB8AC3E}">
        <p14:creationId xmlns:p14="http://schemas.microsoft.com/office/powerpoint/2010/main" val="125980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B6743-A2DA-3DA3-995B-D277C29154A5}"/>
              </a:ext>
            </a:extLst>
          </p:cNvPr>
          <p:cNvSpPr txBox="1"/>
          <p:nvPr/>
        </p:nvSpPr>
        <p:spPr>
          <a:xfrm>
            <a:off x="2529796" y="468082"/>
            <a:ext cx="6098663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Вимоги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76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2558589"/>
            <a:ext cx="823645" cy="385549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5A138-58E5-2E73-59BB-5FBC7838F544}"/>
              </a:ext>
            </a:extLst>
          </p:cNvPr>
          <p:cNvSpPr txBox="1"/>
          <p:nvPr/>
        </p:nvSpPr>
        <p:spPr>
          <a:xfrm>
            <a:off x="2529796" y="1600200"/>
            <a:ext cx="6098663" cy="2833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Функціональні вимоги: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Аутентифікація та авторизація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 через Firebase Authentication (вхід за допомогою Google-акаунтів) та безпечне керування сесіями.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Інтелектуальний ШІ-чат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 на базі Gemini API для практики мовлення в реальному часі та аналізу помилок.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Управління контентом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 (Flashcards): створення, редагування та видалення персональних наборів карток з автопідказками.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Пошук, фільтрація та групування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 лексики за темами, категоріями або рівнями складності.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Аналіз, статистика та сповіщення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</a:rPr>
              <a:t>: ведення історії діалогів, трекінг прогресу та пуш-нагадування про навчання.</a:t>
            </a:r>
          </a:p>
        </p:txBody>
      </p:sp>
    </p:spTree>
    <p:extLst>
      <p:ext uri="{BB962C8B-B14F-4D97-AF65-F5344CB8AC3E}">
        <p14:creationId xmlns:p14="http://schemas.microsoft.com/office/powerpoint/2010/main" val="1342228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122DE-D566-E426-D95A-7C70CE4A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9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7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2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3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4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5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6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7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11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96365-6EF6-1199-EB01-B3AF323F1652}"/>
              </a:ext>
            </a:extLst>
          </p:cNvPr>
          <p:cNvSpPr txBox="1"/>
          <p:nvPr/>
        </p:nvSpPr>
        <p:spPr>
          <a:xfrm>
            <a:off x="2529796" y="468082"/>
            <a:ext cx="6098663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Вимоги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18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19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0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1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2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4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5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6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7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8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9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132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3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4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5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6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7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8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9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0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1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3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45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2558589"/>
            <a:ext cx="823645" cy="385549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12AB4-FF81-F337-1A55-F0A0E659B3B8}"/>
              </a:ext>
            </a:extLst>
          </p:cNvPr>
          <p:cNvSpPr txBox="1"/>
          <p:nvPr/>
        </p:nvSpPr>
        <p:spPr>
          <a:xfrm>
            <a:off x="2529796" y="1600200"/>
            <a:ext cx="6098663" cy="2833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Нефункціональні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вимоги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Сучасний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UI/UX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інтуїтивний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інтерфейс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базі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Material Design 3,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адаптований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для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ОС Android.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Архітектура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системи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реалізація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основі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патерну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MVVM з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використанням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Jetpack Compose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Kotlin.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Хмарне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зберігання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синхронізація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даних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користувачів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у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реальному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часі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допомогою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бази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Firestore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Безпека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конфіденційність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захист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транзакцій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персональних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профілів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індивідуальна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модель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доступу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даних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Надійність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автономність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стійкість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збоїв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при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взаємодії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із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зовнішніми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API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підтримка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кешування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даних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52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0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242857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51435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B4447-E47E-3942-EE14-1AEB31DAEDAC}"/>
              </a:ext>
            </a:extLst>
          </p:cNvPr>
          <p:cNvSpPr txBox="1"/>
          <p:nvPr/>
        </p:nvSpPr>
        <p:spPr>
          <a:xfrm>
            <a:off x="405209" y="725562"/>
            <a:ext cx="2834152" cy="29574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Use-case </a:t>
            </a:r>
            <a:r>
              <a:rPr lang="en-US" sz="3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діаграма</a:t>
            </a: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програмної</a:t>
            </a:r>
            <a:r>
              <a:rPr lang="en-US" sz="3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системи</a:t>
            </a:r>
            <a:endParaRPr lang="en-US" sz="3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3774755"/>
            <a:ext cx="4053016" cy="642785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E9FAC4-5FFF-575D-7C84-06D06F90D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5" y="834745"/>
            <a:ext cx="4230377" cy="347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5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860D5E-E17E-7D8D-0646-780E0161B676}"/>
              </a:ext>
            </a:extLst>
          </p:cNvPr>
          <p:cNvSpPr txBox="1"/>
          <p:nvPr/>
        </p:nvSpPr>
        <p:spPr>
          <a:xfrm>
            <a:off x="3375660" y="57388"/>
            <a:ext cx="3124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/>
              <a:t>Стек технологій</a:t>
            </a:r>
            <a:endParaRPr lang="uk-UA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1B002-658E-4D6A-EBEB-CFBB960EFE4B}"/>
              </a:ext>
            </a:extLst>
          </p:cNvPr>
          <p:cNvSpPr txBox="1"/>
          <p:nvPr/>
        </p:nvSpPr>
        <p:spPr>
          <a:xfrm>
            <a:off x="2400300" y="1032183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 err="1">
                <a:solidFill>
                  <a:srgbClr val="1B4958"/>
                </a:solidFill>
                <a:effectLst/>
                <a:latin typeface="Lora" pitchFamily="2" charset="-52"/>
              </a:rPr>
              <a:t>Frontend</a:t>
            </a:r>
            <a:r>
              <a:rPr lang="uk-UA" b="1" i="0" dirty="0">
                <a:solidFill>
                  <a:srgbClr val="1B4958"/>
                </a:solidFill>
                <a:effectLst/>
                <a:latin typeface="Lora" pitchFamily="2" charset="-52"/>
              </a:rPr>
              <a:t>: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F5097-CFD6-FA04-F607-28153DE3F759}"/>
              </a:ext>
            </a:extLst>
          </p:cNvPr>
          <p:cNvSpPr txBox="1"/>
          <p:nvPr/>
        </p:nvSpPr>
        <p:spPr>
          <a:xfrm>
            <a:off x="2339340" y="2387084"/>
            <a:ext cx="1341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 err="1">
                <a:solidFill>
                  <a:srgbClr val="1B4958"/>
                </a:solidFill>
                <a:effectLst/>
                <a:latin typeface="Lora" pitchFamily="2" charset="-52"/>
              </a:rPr>
              <a:t>Backend</a:t>
            </a:r>
            <a:r>
              <a:rPr lang="uk-UA" b="1" i="0" dirty="0">
                <a:solidFill>
                  <a:srgbClr val="1B4958"/>
                </a:solidFill>
                <a:effectLst/>
                <a:latin typeface="Lora" pitchFamily="2" charset="-52"/>
              </a:rPr>
              <a:t>: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532C4-8636-7E26-608C-A6212CC3E4A5}"/>
              </a:ext>
            </a:extLst>
          </p:cNvPr>
          <p:cNvSpPr txBox="1"/>
          <p:nvPr/>
        </p:nvSpPr>
        <p:spPr>
          <a:xfrm>
            <a:off x="2743200" y="4227314"/>
            <a:ext cx="1691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>
                <a:solidFill>
                  <a:srgbClr val="1B4958"/>
                </a:solidFill>
                <a:effectLst/>
                <a:latin typeface="Lora" pitchFamily="2" charset="-52"/>
              </a:rPr>
              <a:t>База Даних:</a:t>
            </a:r>
            <a:endParaRPr lang="uk-UA" dirty="0"/>
          </a:p>
        </p:txBody>
      </p:sp>
      <p:pic>
        <p:nvPicPr>
          <p:cNvPr id="1026" name="Picture 2" descr="Kotlin logo">
            <a:extLst>
              <a:ext uri="{FF2B5EF4-FFF2-40B4-BE49-F238E27FC236}">
                <a16:creationId xmlns:a16="http://schemas.microsoft.com/office/drawing/2014/main" id="{0740310B-B579-1147-09ED-7D4723170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682" y="980630"/>
            <a:ext cx="472438" cy="47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AE9257-8959-6A82-06CF-1089AFC4E89C}"/>
              </a:ext>
            </a:extLst>
          </p:cNvPr>
          <p:cNvSpPr txBox="1"/>
          <p:nvPr/>
        </p:nvSpPr>
        <p:spPr>
          <a:xfrm>
            <a:off x="4342451" y="1032183"/>
            <a:ext cx="78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 err="1">
                <a:solidFill>
                  <a:srgbClr val="1E1A15"/>
                </a:solidFill>
                <a:effectLst/>
                <a:latin typeface="Plus Jakarta Sans"/>
              </a:rPr>
              <a:t>Kotlin</a:t>
            </a:r>
            <a:endParaRPr lang="uk-UA" dirty="0"/>
          </a:p>
        </p:txBody>
      </p:sp>
      <p:pic>
        <p:nvPicPr>
          <p:cNvPr id="1028" name="Picture 4" descr="Jetpack Compose logo">
            <a:extLst>
              <a:ext uri="{FF2B5EF4-FFF2-40B4-BE49-F238E27FC236}">
                <a16:creationId xmlns:a16="http://schemas.microsoft.com/office/drawing/2014/main" id="{E4ECF418-0686-0B1B-AD0B-43033C3C2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082" y="822675"/>
            <a:ext cx="672465" cy="72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56AF00-A255-E4F0-0074-C97A411BCA06}"/>
              </a:ext>
            </a:extLst>
          </p:cNvPr>
          <p:cNvSpPr txBox="1"/>
          <p:nvPr/>
        </p:nvSpPr>
        <p:spPr>
          <a:xfrm>
            <a:off x="6118860" y="1001140"/>
            <a:ext cx="1893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i="0" dirty="0" err="1">
                <a:solidFill>
                  <a:srgbClr val="1E1A15"/>
                </a:solidFill>
                <a:effectLst/>
                <a:latin typeface="Plus Jakarta Sans"/>
              </a:rPr>
              <a:t>Jetpack</a:t>
            </a:r>
            <a:r>
              <a:rPr lang="uk-UA" b="1" i="0" dirty="0">
                <a:solidFill>
                  <a:srgbClr val="1E1A15"/>
                </a:solidFill>
                <a:effectLst/>
                <a:latin typeface="Plus Jakarta Sans"/>
              </a:rPr>
              <a:t> </a:t>
            </a:r>
            <a:r>
              <a:rPr lang="uk-UA" b="1" i="0" dirty="0" err="1">
                <a:solidFill>
                  <a:srgbClr val="1E1A15"/>
                </a:solidFill>
                <a:effectLst/>
                <a:latin typeface="Plus Jakarta Sans"/>
              </a:rPr>
              <a:t>Compose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D8171D-922C-B084-B6CC-86D34F33D0F2}"/>
              </a:ext>
            </a:extLst>
          </p:cNvPr>
          <p:cNvSpPr txBox="1"/>
          <p:nvPr/>
        </p:nvSpPr>
        <p:spPr>
          <a:xfrm>
            <a:off x="4725831" y="2387083"/>
            <a:ext cx="591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i="0" dirty="0">
                <a:solidFill>
                  <a:srgbClr val="1E1A15"/>
                </a:solidFill>
                <a:effectLst/>
                <a:latin typeface="Plus Jakarta Sans"/>
              </a:rPr>
              <a:t>API</a:t>
            </a:r>
            <a:endParaRPr lang="uk-UA" dirty="0"/>
          </a:p>
        </p:txBody>
      </p:sp>
      <p:pic>
        <p:nvPicPr>
          <p:cNvPr id="1032" name="Picture 8" descr="Gemini New 2025 Logo Vector Free Download | Logowik">
            <a:extLst>
              <a:ext uri="{FF2B5EF4-FFF2-40B4-BE49-F238E27FC236}">
                <a16:creationId xmlns:a16="http://schemas.microsoft.com/office/drawing/2014/main" id="{62A28DB1-9214-37D0-5693-CBEB6C78E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460" y="2174557"/>
            <a:ext cx="1059180" cy="79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🔥 Register and Login using Firebase Authentication for your app -  Tutorials and Guides - MIT App Inventor Community">
            <a:extLst>
              <a:ext uri="{FF2B5EF4-FFF2-40B4-BE49-F238E27FC236}">
                <a16:creationId xmlns:a16="http://schemas.microsoft.com/office/drawing/2014/main" id="{FB80FF3D-2C63-9C60-827F-A7EAF4520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14" y="2290048"/>
            <a:ext cx="356343" cy="48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090D53-7293-4388-A49B-BFF0CE54AE8C}"/>
              </a:ext>
            </a:extLst>
          </p:cNvPr>
          <p:cNvSpPr txBox="1"/>
          <p:nvPr/>
        </p:nvSpPr>
        <p:spPr>
          <a:xfrm>
            <a:off x="6018957" y="2417860"/>
            <a:ext cx="1527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1" i="0" dirty="0" err="1">
                <a:solidFill>
                  <a:srgbClr val="1E1A15"/>
                </a:solidFill>
                <a:effectLst/>
                <a:latin typeface="Plus Jakarta Sans"/>
              </a:rPr>
              <a:t>Firebase</a:t>
            </a:r>
            <a:r>
              <a:rPr lang="uk-UA" sz="1400" b="1" i="0" dirty="0">
                <a:solidFill>
                  <a:srgbClr val="1E1A15"/>
                </a:solidFill>
                <a:effectLst/>
                <a:latin typeface="Plus Jakarta Sans"/>
              </a:rPr>
              <a:t> </a:t>
            </a:r>
            <a:r>
              <a:rPr lang="uk-UA" sz="1400" b="1" i="0" dirty="0" err="1">
                <a:solidFill>
                  <a:srgbClr val="1E1A15"/>
                </a:solidFill>
                <a:effectLst/>
                <a:latin typeface="Plus Jakarta Sans"/>
              </a:rPr>
              <a:t>Auth</a:t>
            </a:r>
            <a:endParaRPr lang="uk-UA" sz="1400" dirty="0"/>
          </a:p>
        </p:txBody>
      </p:sp>
      <p:pic>
        <p:nvPicPr>
          <p:cNvPr id="1036" name="Picture 12" descr="Firebase Android Series: Firestore | by Francisco García Sierra |  ProAndroidDev">
            <a:extLst>
              <a:ext uri="{FF2B5EF4-FFF2-40B4-BE49-F238E27FC236}">
                <a16:creationId xmlns:a16="http://schemas.microsoft.com/office/drawing/2014/main" id="{CCAE90E3-C97D-F3A7-24F9-B6B90E0A5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078" y="4045004"/>
            <a:ext cx="2072276" cy="63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95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C0FBC-40E1-4A5A-0E2D-F3B15FC5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0F9BADC-63E0-C81C-C7CB-42F95ADC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AC51681-4F71-8E09-FD78-D09825069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A4F7A59E-DE11-F8E9-07F1-789EA37D7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641FF5CA-6D42-D11C-6597-2C1A35B4D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0DC23E6-94DD-30AE-7FB1-9A2ED010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90A15572-E00D-41D1-441F-EBCC72C2A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A593C24C-2639-B91F-862F-C4A807F25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DEAFD8F5-6B4F-AE26-827F-3BADD739E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B30CB76-EBA1-55CA-88EC-C676E829F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FB93BCA-2FDE-6814-9FFC-E5368BA51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A21253E7-C5A0-7EF2-A425-6A2119452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405F7B48-1C03-38A8-CF6C-0EB49699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6B85B7A0-1D0A-F232-A5F5-FB1E3FCC6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EE6C36-3512-FEC5-A5AE-AAA854DD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7DE74F7-3AAB-5C4E-CF52-DF0D92114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958A90-9468-6D07-BC45-96CE187B1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890F02C-1D61-6580-97FF-8D95E43D3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5450641-64D6-A8C6-E19D-E119B452F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7F9437-D0FF-C94D-9EBA-DABAAF83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F0692AD-0127-7AFA-AD56-69B117E97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D041EA8-53B9-945F-90C3-EEDC93FC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1BCFE21-9548-7488-16F2-A50B47FC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EE531C8-9093-94C1-37A2-97B1EF21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A92B125-6418-9D69-2EC7-F2490625D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8C0BFF8-EEDC-84FA-07CC-9EDAB3932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2A19F34-844B-0FB9-8DDA-9469792FC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2DC6B57-F687-87C8-6240-2635DBA69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FB461DD6-7024-AE81-A954-3BDF05F3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EC55BC-F362-7DA4-3D68-C426315E1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8D948-F8CD-00CA-C1AF-356532D8CA72}"/>
              </a:ext>
            </a:extLst>
          </p:cNvPr>
          <p:cNvSpPr txBox="1"/>
          <p:nvPr/>
        </p:nvSpPr>
        <p:spPr>
          <a:xfrm>
            <a:off x="1955718" y="16792"/>
            <a:ext cx="7893882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Ключовий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компонент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№1 -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Інтеграція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Gemini 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66838-6B7A-B139-5397-208B01176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AC5E0-7E5F-12B8-B13D-2F00CF87BEB8}"/>
              </a:ext>
            </a:extLst>
          </p:cNvPr>
          <p:cNvSpPr txBox="1"/>
          <p:nvPr/>
        </p:nvSpPr>
        <p:spPr>
          <a:xfrm>
            <a:off x="486918" y="1600200"/>
            <a:ext cx="2737709" cy="281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Технічна реалізація: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Модель: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Використання оптимізованої моделі gemini-1.5-flash для швидкої обробки запитів.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Контекст вчителя: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Налаштування systemInstruction для перетворення ШІ на інтелектуального ШІ-репетитора.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Зворотний зв'язок: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Реалізація миттєвого аналізу граматичних помилок у реальному часі.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E791DA-4DB0-53C3-D526-ABD5EED2F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457" y="1345895"/>
            <a:ext cx="5215183" cy="2529363"/>
          </a:xfrm>
          <a:prstGeom prst="rect">
            <a:avLst/>
          </a:prstGeom>
        </p:spPr>
      </p:pic>
      <p:sp>
        <p:nvSpPr>
          <p:cNvPr id="49" name="Freeform 11">
            <a:extLst>
              <a:ext uri="{FF2B5EF4-FFF2-40B4-BE49-F238E27FC236}">
                <a16:creationId xmlns:a16="http://schemas.microsoft.com/office/drawing/2014/main" id="{27B80B2B-B0EA-9B01-0EDC-0D43E7FF8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5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69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1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2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4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AFD6B-EEF5-8893-0B0A-E23325C4B786}"/>
              </a:ext>
            </a:extLst>
          </p:cNvPr>
          <p:cNvSpPr txBox="1"/>
          <p:nvPr/>
        </p:nvSpPr>
        <p:spPr>
          <a:xfrm>
            <a:off x="1208319" y="49489"/>
            <a:ext cx="7956042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Ключовий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компонент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№2: UI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та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архітектура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(Jetpack Compose &amp; MVVM)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4FA27-3CCC-9B6B-6FC2-D119D841FB9C}"/>
              </a:ext>
            </a:extLst>
          </p:cNvPr>
          <p:cNvSpPr txBox="1"/>
          <p:nvPr/>
        </p:nvSpPr>
        <p:spPr>
          <a:xfrm>
            <a:off x="486918" y="1600200"/>
            <a:ext cx="2737709" cy="281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Технічна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реалізація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Архітектурний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шаблон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MVVM: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Повний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поділ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бізнес-логіки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додатка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інтерфейсу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ChatViewModel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є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єдиним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джерелом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правди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для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екрана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ChatScreen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Асинхронний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життєвий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цикл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(Coroutines):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Обробка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відправка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повідомлень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загорнуті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у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viewModelScope.launch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Це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гарантує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що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інтерфейс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не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«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фризить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»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час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запитів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мережі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чи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бази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даних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Реактивне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керування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станом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Після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отримання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відповіді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Gemini API,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оновлення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репозиторію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автоматично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тригерить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стан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екрана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через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реактивні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потоки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даних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74C0AE-D0E5-BD41-F96A-BE591063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896" y="1748662"/>
            <a:ext cx="5215183" cy="2333794"/>
          </a:xfrm>
          <a:prstGeom prst="rect">
            <a:avLst/>
          </a:prstGeom>
        </p:spPr>
      </p:pic>
      <p:sp>
        <p:nvSpPr>
          <p:cNvPr id="90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5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36D20-BFA8-3022-527D-5F32CE95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0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1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3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4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5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6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7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8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151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2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3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4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5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6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7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8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9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0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1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2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66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F713B-16DB-C349-65B9-C45EB72CFE40}"/>
              </a:ext>
            </a:extLst>
          </p:cNvPr>
          <p:cNvSpPr txBox="1"/>
          <p:nvPr/>
        </p:nvSpPr>
        <p:spPr>
          <a:xfrm>
            <a:off x="1015914" y="85257"/>
            <a:ext cx="8306161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Ключовий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компонент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№</a:t>
            </a:r>
            <a:r>
              <a:rPr lang="uk-UA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4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Механіка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жестів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та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3D-трансформацій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карток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D6736-1089-BA49-90BB-BE9948FC4225}"/>
              </a:ext>
            </a:extLst>
          </p:cNvPr>
          <p:cNvSpPr txBox="1"/>
          <p:nvPr/>
        </p:nvSpPr>
        <p:spPr>
          <a:xfrm>
            <a:off x="486918" y="1600200"/>
            <a:ext cx="4930901" cy="281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Технічна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реалізація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Обробка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жестів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у Compose: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Використання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низькорівневого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модифікатора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pointerInput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функції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detectDragGestures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для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точного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зчитування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координат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пальця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користувача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екрані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в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реальному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часі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Математика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динамічного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нахилу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Розрахунок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кута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нахилу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картки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по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осі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Z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основі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її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зсуву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this.rotationZ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animatedX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/ 25f.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Це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створює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нативний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ефект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«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ваги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»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картки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під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час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свайпу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Апаратна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інверсія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контенту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Реалізація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логічного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фіксу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обертання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всередині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graphicsLayer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this.rotationY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if (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rotationY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&gt; 90f) 180f else 0f).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Це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запобігає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дзеркальному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відображенню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тексту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при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перевороті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картки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180°.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CAC7B7-DE1E-4AAE-E645-4E294578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088" y="1098510"/>
            <a:ext cx="1800632" cy="3935810"/>
          </a:xfrm>
          <a:prstGeom prst="rect">
            <a:avLst/>
          </a:prstGeom>
        </p:spPr>
      </p:pic>
      <p:sp>
        <p:nvSpPr>
          <p:cNvPr id="172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75D07-EFC7-9B88-594E-026F7F5A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0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1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3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4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5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6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7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8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151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2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3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4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5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6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7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8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9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0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1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2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66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DF7BC-A5F6-66F0-AD1A-4AB3CBA21B5F}"/>
              </a:ext>
            </a:extLst>
          </p:cNvPr>
          <p:cNvSpPr txBox="1"/>
          <p:nvPr/>
        </p:nvSpPr>
        <p:spPr>
          <a:xfrm>
            <a:off x="1188253" y="37840"/>
            <a:ext cx="8489442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Ключовий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компонент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№4: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Декларативна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стрічка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чату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та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керування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станом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6CD24-749E-23A7-3D2A-3CB2F7B8AB8E}"/>
              </a:ext>
            </a:extLst>
          </p:cNvPr>
          <p:cNvSpPr txBox="1"/>
          <p:nvPr/>
        </p:nvSpPr>
        <p:spPr>
          <a:xfrm>
            <a:off x="486918" y="1600200"/>
            <a:ext cx="4930901" cy="281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Технічна реалізація: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Динамічний розподіл (ChatBubble):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Кастомний віджет, який приймає об'єкт повідомлення й на основі прапорця message.isUser на льоту розраховує візуальний стиль: притискання (Alignment.CenterEnd чи CenterStart), кольори та унікальну геометрію кутів RoundedCornerShape.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Оптимізований рендеринг списків: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Використання LazyColumn замість звичайних контейнерів. Це дозволяє Android не навантажувати пам'ять пристрою і рендерити лише ті повідомлення чату, які зараз видно на екрані.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Реактивний автоскрол (LaunchedEffect):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t> Відстеження стану довжини списку повідомлень (messages.size) та видимості клавіатури. При появі нової репліки система автоматично викликає анімацію listState.animateScrollToItem, плавно прокручуючи чат до кінця.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50464E-B049-9D93-27C7-7518599B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20" y="1049269"/>
            <a:ext cx="1918707" cy="3935810"/>
          </a:xfrm>
          <a:prstGeom prst="rect">
            <a:avLst/>
          </a:prstGeom>
        </p:spPr>
      </p:pic>
      <p:sp>
        <p:nvSpPr>
          <p:cNvPr id="172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1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B5B69-A297-4D2F-8B89-529DA8A27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171450"/>
            <a:ext cx="2138628" cy="4978966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3E39D215-BF38-4094-82D7-61DED1145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412700A-91C4-4126-8F17-3B9449DBB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F985802-25A8-4B99-89F0-2A42EC32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54C35AF-DB92-4205-A779-2A385B714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F845211-1F53-4E0A-891E-B78A206F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149C7DD-9998-4805-BFC8-CEF5F5DF3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7C8036D-3ECA-43DA-BAF5-3C65CF41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9C15912-CDE8-4DF3-9324-273FB4C8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7C68D51-B7DA-4572-AB7E-708540B3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1AF802CB-4E9E-4895-9363-C119914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15760E5-5F27-4735-B01C-78E05F3FB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B9C6516-B2DB-432F-BD3A-A1792BD46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9C8D0D-644B-4B97-B83C-CC8E6436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589"/>
            <a:ext cx="1767505" cy="5140529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BE1EA6-80CF-446B-A4FE-3F935A51C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0E39808-F4F7-43DE-AB53-82B7B55EA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ED5109A-600A-4C23-9BB3-C4C19C2D9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76FF73F-8CA3-42B0-A680-353805CD2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26A6949-3BEB-422A-854C-D4E26E4CF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E07AD25-30AF-40CD-B901-DF1EDBD68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AA460AF-7760-4F15-881A-6F0BFDBCD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EE53C70E-5D92-4C42-A34F-9F7D16006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27614EE-0086-4D34-99BD-52F03708D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26919B9-3ED4-4744-A713-326B3BAF6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898BDBF5-8AA3-49CD-999A-ABA1F7AE3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F8ED3E0-CBE7-48C4-8F9E-FF98079C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84F153B-2093-4171-BD2D-1631695C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99499096-7355-478E-8CCB-A47EA1B79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35781"/>
            <a:ext cx="1191394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5BDDF5B-1133-45D7-A901-9F28E0872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89"/>
            <a:ext cx="9144000" cy="5140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17DBB-BD37-7E9C-1BDC-B8B2F9655B19}"/>
              </a:ext>
            </a:extLst>
          </p:cNvPr>
          <p:cNvSpPr txBox="1"/>
          <p:nvPr/>
        </p:nvSpPr>
        <p:spPr>
          <a:xfrm>
            <a:off x="486918" y="483829"/>
            <a:ext cx="3841989" cy="944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Тестування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2C7101-14DA-4743-898E-3563B0FC9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4FF61-F082-D2BB-280B-31ECAA6C22D9}"/>
              </a:ext>
            </a:extLst>
          </p:cNvPr>
          <p:cNvSpPr txBox="1"/>
          <p:nvPr/>
        </p:nvSpPr>
        <p:spPr>
          <a:xfrm>
            <a:off x="486918" y="1600200"/>
            <a:ext cx="3841989" cy="2819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Ключові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сценарії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тестування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Тест-кейси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Валідація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порожнього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введення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Перевірка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крайового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стану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userText.isBlank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()).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Система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успішно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блокує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відправку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порожніх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повідомлень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або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пробілів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запобігаючи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зайвим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запитам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API.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Обробка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помилок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мережі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(Error Handling):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Штучне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вимкнення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інтернету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час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запиту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ШІ.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Блок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try-catch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успішно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перехоплює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виняткові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ситуації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(Exception),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записує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помилку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в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Log.e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запобігає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аварійному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завершенню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додатка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(Crash).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Стрес-тест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автоскролу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(UI/UX State):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Емуляція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швидкого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введення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великої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кількості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повідомлень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раптового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відкриття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екранної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клавіатури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Компонент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LaunchedEffect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стабільно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фокусує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список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останньому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елементі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Тестування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реальному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пристрої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Верифікація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роботи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TTS (Text-to-Speech)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розпізнавання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мови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базі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смартфона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Google Pixel 9.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Підтверджено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коректність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відсікання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українського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тексту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через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extractEnglishText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для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чистої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англійської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озвучки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D0748D-5151-4F2A-8DD0-FC4BB9444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4530" y="483829"/>
            <a:ext cx="4088720" cy="3935810"/>
          </a:xfrm>
          <a:prstGeom prst="rect">
            <a:avLst/>
          </a:prstGeom>
          <a:solidFill>
            <a:srgbClr val="FFFFFE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4EDE4E-0A2C-244A-6168-B03F8F9A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172" y="2715340"/>
            <a:ext cx="3839876" cy="14687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2D1B2C-F3E1-6650-D5EE-92A00A0A0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481" y="1269422"/>
            <a:ext cx="3834317" cy="935405"/>
          </a:xfrm>
          <a:prstGeom prst="rect">
            <a:avLst/>
          </a:prstGeom>
        </p:spPr>
      </p:pic>
      <p:sp>
        <p:nvSpPr>
          <p:cNvPr id="50" name="Freeform 12">
            <a:extLst>
              <a:ext uri="{FF2B5EF4-FFF2-40B4-BE49-F238E27FC236}">
                <a16:creationId xmlns:a16="http://schemas.microsoft.com/office/drawing/2014/main" id="{EE1A7EAA-DE31-45FD-8A51-7ADE79018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45917"/>
            <a:ext cx="778526" cy="379708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82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68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6E3E27-7FE9-09C2-AC6B-CCD7527EEF8C}"/>
              </a:ext>
            </a:extLst>
          </p:cNvPr>
          <p:cNvSpPr txBox="1"/>
          <p:nvPr/>
        </p:nvSpPr>
        <p:spPr>
          <a:xfrm>
            <a:off x="3886200" y="0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dirty="0"/>
              <a:t>Висновок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CBB4D-3148-B794-17FE-C3002F0E11D1}"/>
              </a:ext>
            </a:extLst>
          </p:cNvPr>
          <p:cNvSpPr txBox="1"/>
          <p:nvPr/>
        </p:nvSpPr>
        <p:spPr>
          <a:xfrm>
            <a:off x="228600" y="930830"/>
            <a:ext cx="44119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/>
              <a:t>Результати: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Стек проєкту:</a:t>
            </a:r>
            <a:r>
              <a:rPr lang="uk-UA" dirty="0"/>
              <a:t> Створено додаток </a:t>
            </a:r>
            <a:r>
              <a:rPr lang="uk-UA" b="1" dirty="0" err="1"/>
              <a:t>Aingo</a:t>
            </a:r>
            <a:r>
              <a:rPr lang="uk-UA" dirty="0"/>
              <a:t> на базі </a:t>
            </a:r>
            <a:r>
              <a:rPr lang="uk-UA" dirty="0" err="1"/>
              <a:t>Kotlin</a:t>
            </a:r>
            <a:r>
              <a:rPr lang="uk-UA" dirty="0"/>
              <a:t>, </a:t>
            </a:r>
            <a:r>
              <a:rPr lang="uk-UA" dirty="0" err="1"/>
              <a:t>Jetpack</a:t>
            </a:r>
            <a:r>
              <a:rPr lang="uk-UA" dirty="0"/>
              <a:t> </a:t>
            </a:r>
            <a:r>
              <a:rPr lang="uk-UA" dirty="0" err="1"/>
              <a:t>Compose</a:t>
            </a:r>
            <a:r>
              <a:rPr lang="uk-UA" dirty="0"/>
              <a:t> та </a:t>
            </a:r>
            <a:r>
              <a:rPr lang="uk-UA" dirty="0" err="1"/>
              <a:t>Firebase</a:t>
            </a:r>
            <a:r>
              <a:rPr lang="uk-U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Інтеграція ШІ:</a:t>
            </a:r>
            <a:r>
              <a:rPr lang="uk-UA" dirty="0"/>
              <a:t> Впроваджено </a:t>
            </a:r>
            <a:r>
              <a:rPr lang="uk-UA" dirty="0" err="1"/>
              <a:t>Gemini</a:t>
            </a:r>
            <a:r>
              <a:rPr lang="uk-UA" dirty="0"/>
              <a:t> API для розмовної практики та аналізу помилок.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 err="1"/>
              <a:t>Гейміфікація</a:t>
            </a:r>
            <a:r>
              <a:rPr lang="uk-UA" b="1" dirty="0"/>
              <a:t>:</a:t>
            </a:r>
            <a:r>
              <a:rPr lang="uk-UA" dirty="0"/>
              <a:t> Реалізовано кастомну колоду карток із </a:t>
            </a:r>
            <a:r>
              <a:rPr lang="uk-UA" dirty="0" err="1"/>
              <a:t>механікою</a:t>
            </a:r>
            <a:r>
              <a:rPr lang="uk-UA" dirty="0"/>
              <a:t> 3D-фліпу та </a:t>
            </a:r>
            <a:r>
              <a:rPr lang="uk-UA" dirty="0" err="1"/>
              <a:t>свайпів</a:t>
            </a:r>
            <a:r>
              <a:rPr lang="uk-U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Синхронізація:</a:t>
            </a:r>
            <a:r>
              <a:rPr lang="uk-UA" dirty="0"/>
              <a:t> Забезпечено збереження історії та прогресу в реальному часі через </a:t>
            </a:r>
            <a:r>
              <a:rPr lang="uk-UA" dirty="0" err="1"/>
              <a:t>Firestore</a:t>
            </a:r>
            <a:r>
              <a:rPr lang="uk-UA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E49D6-F388-2529-8F03-DCE8DBC85B28}"/>
              </a:ext>
            </a:extLst>
          </p:cNvPr>
          <p:cNvSpPr txBox="1"/>
          <p:nvPr/>
        </p:nvSpPr>
        <p:spPr>
          <a:xfrm>
            <a:off x="5151120" y="930830"/>
            <a:ext cx="4061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/>
              <a:t>Плани розвитку:</a:t>
            </a:r>
          </a:p>
          <a:p>
            <a:pPr>
              <a:buFont typeface="+mj-lt"/>
              <a:buAutoNum type="arabicPeriod"/>
            </a:pPr>
            <a:r>
              <a:rPr lang="uk-UA" b="1" dirty="0" err="1"/>
              <a:t>Offline</a:t>
            </a:r>
            <a:r>
              <a:rPr lang="uk-UA" b="1" dirty="0"/>
              <a:t>-режим:</a:t>
            </a:r>
            <a:r>
              <a:rPr lang="uk-UA" dirty="0"/>
              <a:t> Інтеграція </a:t>
            </a:r>
            <a:r>
              <a:rPr lang="uk-UA" dirty="0" err="1"/>
              <a:t>Room</a:t>
            </a:r>
            <a:r>
              <a:rPr lang="uk-UA" dirty="0"/>
              <a:t> DB для роботи додатка без інтернету.</a:t>
            </a:r>
          </a:p>
          <a:p>
            <a:pPr>
              <a:buFont typeface="+mj-lt"/>
              <a:buAutoNum type="arabicPeriod"/>
            </a:pPr>
            <a:r>
              <a:rPr lang="uk-UA" b="1" dirty="0"/>
              <a:t>Аналітика:</a:t>
            </a:r>
            <a:r>
              <a:rPr lang="uk-UA" dirty="0"/>
              <a:t> Додавання графіків та візуалізації </a:t>
            </a:r>
            <a:r>
              <a:rPr lang="uk-UA" dirty="0" err="1"/>
              <a:t>мовного</a:t>
            </a:r>
            <a:r>
              <a:rPr lang="uk-UA" dirty="0"/>
              <a:t> росту користувача.</a:t>
            </a:r>
          </a:p>
          <a:p>
            <a:pPr>
              <a:buFont typeface="+mj-lt"/>
              <a:buAutoNum type="arabicPeriod"/>
            </a:pPr>
            <a:r>
              <a:rPr lang="uk-UA" b="1" dirty="0" err="1"/>
              <a:t>Мультиплатформеність</a:t>
            </a:r>
            <a:r>
              <a:rPr lang="uk-UA" b="1" dirty="0"/>
              <a:t>:</a:t>
            </a:r>
            <a:r>
              <a:rPr lang="uk-UA" dirty="0"/>
              <a:t> Перехід на </a:t>
            </a:r>
            <a:r>
              <a:rPr lang="uk-UA" dirty="0" err="1"/>
              <a:t>Compose</a:t>
            </a:r>
            <a:r>
              <a:rPr lang="uk-UA" dirty="0"/>
              <a:t> </a:t>
            </a:r>
            <a:r>
              <a:rPr lang="uk-UA" dirty="0" err="1"/>
              <a:t>Multiplatform</a:t>
            </a:r>
            <a:r>
              <a:rPr lang="uk-UA" dirty="0"/>
              <a:t> для релізу під </a:t>
            </a:r>
            <a:r>
              <a:rPr lang="uk-UA" dirty="0" err="1"/>
              <a:t>iOS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234864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502</TotalTime>
  <Words>975</Words>
  <Application>Microsoft Office PowerPoint</Application>
  <PresentationFormat>Экран (16:9)</PresentationFormat>
  <Paragraphs>75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Wingdings 3</vt:lpstr>
      <vt:lpstr>Plus Jakarta Sans</vt:lpstr>
      <vt:lpstr>Arial</vt:lpstr>
      <vt:lpstr>Lora</vt:lpstr>
      <vt:lpstr>Century Gothic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Олександр Дудуков</cp:lastModifiedBy>
  <cp:revision>9</cp:revision>
  <dcterms:created xsi:type="dcterms:W3CDTF">2026-06-08T14:39:20Z</dcterms:created>
  <dcterms:modified xsi:type="dcterms:W3CDTF">2026-07-01T22:16:29Z</dcterms:modified>
</cp:coreProperties>
</file>